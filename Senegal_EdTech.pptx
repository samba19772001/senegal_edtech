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88E"/>
          </a:solidFill>
          <a:ln w="12700">
            <a:solidFill>
              <a:srgbClr val="0028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097280"/>
            <a:ext cx="4114800" cy="4114800"/>
          </a:xfrm>
          <a:prstGeom prst="ellipse">
            <a:avLst/>
          </a:prstGeom>
          <a:solidFill>
            <a:srgbClr val="0039B3">
              <a:alpha val="40000"/>
            </a:srgbClr>
          </a:solidFill>
          <a:ln w="12700">
            <a:solidFill>
              <a:srgbClr val="0039B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3200400"/>
            <a:ext cx="2743200" cy="2743200"/>
          </a:xfrm>
          <a:prstGeom prst="ellipse">
            <a:avLst/>
          </a:prstGeom>
          <a:solidFill>
            <a:srgbClr val="0039B3">
              <a:alpha val="30000"/>
            </a:srgbClr>
          </a:solidFill>
          <a:ln w="12700">
            <a:solidFill>
              <a:srgbClr val="0039B3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2926080" cy="384048"/>
          </a:xfrm>
          <a:prstGeom prst="roundRect">
            <a:avLst>
              <a:gd name="adj" fmla="val 11905"/>
            </a:avLst>
          </a:prstGeom>
          <a:solidFill>
            <a:srgbClr val="0058BE"/>
          </a:solidFill>
          <a:ln w="12700">
            <a:solidFill>
              <a:srgbClr val="0058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09728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PORTAIL DE L'ENSEIGNEMENT PRIMAIRE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Senegal EdTech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FDBFE"/>
                </a:solidFill>
              </a:rPr>
              <a:t>La gestion pédagogique digitalisée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BFDBFE"/>
                </a:solidFill>
              </a:rPr>
              <a:t>pour les enseignants du primaire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27432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23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C5FD"/>
                </a:solidFill>
              </a:rPr>
              <a:t>République du Sénégal  •  2025 —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88E"/>
                </a:solidFill>
              </a:rPr>
              <a:t>Le quotidien des enseignants du primaire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Des tâches administratives qui prennent trop de temps sur l'essentiel : enseigner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8E"/>
                </a:solidFill>
              </a:rPr>
              <a:t>Registres papier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Tenir les cahiers de notes manuellement pour chaque élève et chaque matière prend des heures chaque semaine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🧮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22376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8E"/>
                </a:solidFill>
              </a:rPr>
              <a:t>Calculs fastidieux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22860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Calculer les moyennes de chaque élève à la main est long, source d'erreurs et très stressant en fin de trimestre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023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554480" y="4023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8E"/>
                </a:solidFill>
              </a:rPr>
              <a:t>Bulletins chronophages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44805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Rédiger, mettre en page et imprimer les bulletins de toute la classe représente plusieurs jours de travail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37490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4023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223760" y="40233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88E"/>
                </a:solidFill>
              </a:rPr>
              <a:t>Aucun suivi global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223760" y="44805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Impossible d'avoir une vision claire des performances de la classe, des élèves en difficulté ou des matières faibles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88E"/>
                </a:solidFill>
              </a:rPr>
              <a:t>Senegal EdTech — La solution complète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00288E"/>
          </a:solidFill>
          <a:ln w="12700">
            <a:solidFill>
              <a:srgbClr val="0028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Une plateforme simple et complète pour gérer votre classe du primaire, du début à la fin de l'année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26060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560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8E"/>
                </a:solidFill>
              </a:rPr>
              <a:t>Gestion des élèves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9900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Inscrivez vos élèves manuellement ou importez une liste Excel en quelques secondes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23317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26060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166360" y="2560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8E"/>
                </a:solidFill>
              </a:rPr>
              <a:t>Matières par niveau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29900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Matières prédéfinies pour CI, CP, CE1, CE2, CM1, CM2 — personnalisables selon vos besoins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233172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75320" y="26060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961120" y="2560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8E"/>
                </a:solidFill>
              </a:rPr>
              <a:t>Saisie rapide des notes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0" y="29900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Interface simple et rapide, navigation au clavier, gestion des absences intégrée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29768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45720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371600" y="4526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8E"/>
                </a:solidFill>
              </a:rPr>
              <a:t>Bulletins PDF officiels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371600" y="495604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Bulletins générés automatiquement avec l'en-tête République du Sénégal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43400" y="429768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480560" y="45720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🏅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166360" y="4526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8E"/>
                </a:solidFill>
              </a:rPr>
              <a:t>Classement &amp; Passage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6360" y="495604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Classement par mérite et proposition de passage calculés automatiquement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38160" y="429768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75320" y="45720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961120" y="45262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88E"/>
                </a:solidFill>
              </a:rPr>
              <a:t>Statistiques détaillées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961120" y="495604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Analyse des performances par matière, par genre, par trimestre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288E"/>
                </a:solidFill>
              </a:rPr>
              <a:t>Gestion des élèves simplifiée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Tous vos élèves en un seul endroit, accessibles en quelques secondes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777240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7772400" cy="457200"/>
          </a:xfrm>
          <a:prstGeom prst="rect">
            <a:avLst/>
          </a:prstGeom>
          <a:solidFill>
            <a:srgbClr val="00288E"/>
          </a:solidFill>
          <a:ln w="12700">
            <a:solidFill>
              <a:srgbClr val="0028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👥 Gestion des Élèves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577840" y="1508760"/>
            <a:ext cx="1645920" cy="274320"/>
          </a:xfrm>
          <a:prstGeom prst="roundRect">
            <a:avLst>
              <a:gd name="adj" fmla="val 20000"/>
            </a:avLst>
          </a:prstGeom>
          <a:solidFill>
            <a:srgbClr val="0058BE"/>
          </a:solidFill>
          <a:ln w="12700">
            <a:solidFill>
              <a:srgbClr val="0058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+ Ajouter un élève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31520" y="19659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993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</a:rPr>
              <a:t>35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23408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</a:rPr>
              <a:t>Total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26080" y="19659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993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4ED8"/>
                </a:solidFill>
              </a:rPr>
              <a:t>18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26080" y="23408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D4ED8"/>
                </a:solidFill>
              </a:rPr>
              <a:t>Garçons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120640" y="196596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9933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D174D"/>
                </a:solidFill>
              </a:rPr>
              <a:t>17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20640" y="23408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174D"/>
                </a:solidFill>
              </a:rPr>
              <a:t>Filles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2788920"/>
            <a:ext cx="758952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8254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ÉLÈVE               MATRICULE    CLASSE    SEXE    NAISSANCE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0080" y="3127248"/>
            <a:ext cx="7589520" cy="402336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191256"/>
            <a:ext cx="274320" cy="2743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191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F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51560" y="32186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Fatou Diop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26080" y="321868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EL-001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0" y="32186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CE1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3218688"/>
            <a:ext cx="365760" cy="219456"/>
          </a:xfrm>
          <a:prstGeom prst="roundRect">
            <a:avLst>
              <a:gd name="adj" fmla="val 20833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2369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174D"/>
                </a:solidFill>
              </a:rPr>
              <a:t>F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0" y="32186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15/03/2018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949440" y="3218688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9440" y="32186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🗑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" y="3566160"/>
            <a:ext cx="7589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1520" y="3630168"/>
            <a:ext cx="274320" cy="27432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3630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174D"/>
                </a:solidFill>
              </a:rPr>
              <a:t>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1560" y="36576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Moussa Kare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926080" y="36576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EL-002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0" y="36576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CE1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92040" y="3657600"/>
            <a:ext cx="365760" cy="219456"/>
          </a:xfrm>
          <a:prstGeom prst="roundRect">
            <a:avLst>
              <a:gd name="adj" fmla="val 208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6758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86400" y="3657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22/07/2017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949440" y="3657600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36576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🗑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0080" y="4005072"/>
            <a:ext cx="7589520" cy="402336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1520" y="4069080"/>
            <a:ext cx="274320" cy="2743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A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051560" y="4096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Awa Fall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926080" y="4096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EL-003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114800" y="40965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CE1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92040" y="4096512"/>
            <a:ext cx="365760" cy="219456"/>
          </a:xfrm>
          <a:prstGeom prst="roundRect">
            <a:avLst>
              <a:gd name="adj" fmla="val 20833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41148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174D"/>
                </a:solidFill>
              </a:rPr>
              <a:t>F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486400" y="40965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10/01/2018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49440" y="4096512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9440" y="409651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🗑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40080" y="4443984"/>
            <a:ext cx="75895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1520" y="4507992"/>
            <a:ext cx="274320" cy="27432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" y="4507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174D"/>
                </a:solidFill>
              </a:rPr>
              <a:t>I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51560" y="4535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Ibou Diallo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926080" y="45354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EL-004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114800" y="453542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CE1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892040" y="4535424"/>
            <a:ext cx="365760" cy="219456"/>
          </a:xfrm>
          <a:prstGeom prst="roundRect">
            <a:avLst>
              <a:gd name="adj" fmla="val 2083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92040" y="455371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M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486400" y="45354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05/09/2017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949440" y="4535424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49440" y="453542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🗑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40080" y="4882896"/>
            <a:ext cx="7589520" cy="402336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1520" y="4946904"/>
            <a:ext cx="274320" cy="274320"/>
          </a:xfrm>
          <a:prstGeom prst="ellipse">
            <a:avLst/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1520" y="4946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174D"/>
                </a:solidFill>
              </a:rPr>
              <a:t>M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051560" y="49743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Mariama Ndiaye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2926080" y="49743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EL-005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0" y="497433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CE1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892040" y="4974336"/>
            <a:ext cx="365760" cy="219456"/>
          </a:xfrm>
          <a:prstGeom prst="roundRect">
            <a:avLst>
              <a:gd name="adj" fmla="val 20833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892040" y="499262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D174D"/>
                </a:solidFill>
              </a:rPr>
              <a:t>F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86400" y="49743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28/11/2018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949440" y="4974336"/>
            <a:ext cx="502920" cy="219456"/>
          </a:xfrm>
          <a:prstGeom prst="roundRect">
            <a:avLst>
              <a:gd name="adj" fmla="val 20833"/>
            </a:avLst>
          </a:prstGeom>
          <a:solidFill>
            <a:srgbClr val="FCE7F3"/>
          </a:solidFill>
          <a:ln w="12700">
            <a:solidFill>
              <a:srgbClr val="FCE7F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949440" y="4974336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🗑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8549640" y="1554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86800" y="1627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8E"/>
                </a:solidFill>
              </a:rPr>
              <a:t>📋  Ajout manuel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8686800" y="18836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Formulaire simple nom, prénom, sexe, date de naissance, matricule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8549640" y="24688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686800" y="2542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8E"/>
                </a:solidFill>
              </a:rPr>
              <a:t>📂  Import Excel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8686800" y="27980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Importez toute la liste de la classe en un seul fichier Excel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8549640" y="33832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686800" y="3456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8E"/>
                </a:solidFill>
              </a:rPr>
              <a:t>🔍  Recherche rapide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8686800" y="37124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Trouvez un élève instantanément par son nom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8549640" y="42976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686800" y="43708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8E"/>
                </a:solidFill>
              </a:rPr>
              <a:t>👤  Fiche détaillée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686800" y="46268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Consultez toutes les notes et moyennes d'un élève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8549640" y="52120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686800" y="52852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8E"/>
                </a:solidFill>
              </a:rPr>
              <a:t>🔄  Changement d'année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8686800" y="55412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Transfert automatique des élèves en nouvelle année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288E"/>
                </a:solidFill>
              </a:rPr>
              <a:t>Saisie des notes rapide et intuitive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Saisissez toutes les notes d'une matière en quelques minutes, navigation au clavier incluse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777240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7772400" cy="457200"/>
          </a:xfrm>
          <a:prstGeom prst="rect">
            <a:avLst/>
          </a:prstGeom>
          <a:solidFill>
            <a:srgbClr val="00288E"/>
          </a:solidFill>
          <a:ln w="12700">
            <a:solidFill>
              <a:srgbClr val="0028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Composition T1 — Saisie des notes — Mathématiques / 40 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993392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391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</a:rPr>
              <a:t>✓ Français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2542032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587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● Mathématiques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3090672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136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○ Sciences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3639312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850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○ Histoire-Géo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4187952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336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○ Éducation Civique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4663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Progression : 1/5 matières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5800" y="4892040"/>
            <a:ext cx="2103120" cy="128016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892040"/>
            <a:ext cx="420624" cy="128016"/>
          </a:xfrm>
          <a:prstGeom prst="roundRect">
            <a:avLst>
              <a:gd name="adj" fmla="val 28571"/>
            </a:avLst>
          </a:prstGeom>
          <a:solidFill>
            <a:srgbClr val="00288E"/>
          </a:solidFill>
          <a:ln w="12700">
            <a:solidFill>
              <a:srgbClr val="00288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71800" y="1938528"/>
            <a:ext cx="512064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19751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#    Élève               Note /40       Absent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971800" y="2331720"/>
            <a:ext cx="5120640" cy="420624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63240" y="2423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1  Fatou Diop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20640" y="2414016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20640" y="24323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38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71800" y="2788920"/>
            <a:ext cx="5120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63240" y="2880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  Moussa Kare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120640" y="2871216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28895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32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971800" y="3246120"/>
            <a:ext cx="5120640" cy="420624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3240" y="3337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3  Awa Fall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166360" y="3328416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33467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2400E"/>
                </a:solidFill>
              </a:rPr>
              <a:t>Absent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971800" y="3703320"/>
            <a:ext cx="5120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632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4  Ibou Diallo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20640" y="3785616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38039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28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971800" y="4160520"/>
            <a:ext cx="5120640" cy="420624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63240" y="4251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5  Mariama Ndiaye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120640" y="4242816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20640" y="42611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</a:rPr>
              <a:t>35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971800" y="4617720"/>
            <a:ext cx="51206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63240" y="4709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6  Omar Sow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120640" y="4700016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20640" y="47183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—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971800" y="5166360"/>
            <a:ext cx="5120640" cy="411480"/>
          </a:xfrm>
          <a:prstGeom prst="roundRect">
            <a:avLst>
              <a:gd name="adj" fmla="val 17778"/>
            </a:avLst>
          </a:prstGeom>
          <a:solidFill>
            <a:srgbClr val="00288E"/>
          </a:solidFill>
          <a:ln w="12700">
            <a:solidFill>
              <a:srgbClr val="00288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71800" y="51663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Valider et passer à la matière suivante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549640" y="15544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86800" y="16276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8E"/>
                </a:solidFill>
              </a:rPr>
              <a:t>⌨️  Navigation clavier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686800" y="18836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Flèches ↑↓ pour passer d'un élève à l'autre sans la souris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549640" y="24688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86800" y="25420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8E"/>
                </a:solidFill>
              </a:rPr>
              <a:t>🚫  Gestion des absences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686800" y="27980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Marquez un élève absent d'un clic, il est exclu du calcul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549640" y="33832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86800" y="3456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8E"/>
                </a:solidFill>
              </a:rPr>
              <a:t>⚡  Passage automatique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686800" y="37124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Après validation, passage direct à la matière suivante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549640" y="42976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86800" y="43708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8E"/>
                </a:solidFill>
              </a:rPr>
              <a:t>✅  Tout mettre à 0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686800" y="46268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 bouton pour mettre 0 à tous les élèves en un clic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8549640" y="5212080"/>
            <a:ext cx="32918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86800" y="52852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8E"/>
                </a:solidFill>
              </a:rPr>
              <a:t>💾  Sauvegarde sécurisée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8686800" y="554126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Vos notes sont sauvegardées et modifiables à tout moment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288E"/>
                </a:solidFill>
              </a:rPr>
              <a:t>Bulletins PDF officiels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Bulletins générés automatiquement avec l'en-tête officiel, prêts à imprimer et distribuer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62179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90500" dist="508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3619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288E"/>
                </a:solidFill>
              </a:rPr>
              <a:t>REPUBLIQUE DU SENEGAL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4748B"/>
                </a:solidFill>
              </a:rPr>
              <a:t>Un Peuple — Un But — Une Foi</a:t>
            </a:r>
            <a:endParaRPr lang="en-US" sz="600" dirty="0"/>
          </a:p>
        </p:txBody>
      </p:sp>
      <p:sp>
        <p:nvSpPr>
          <p:cNvPr id="8" name="Shape 6"/>
          <p:cNvSpPr/>
          <p:nvPr/>
        </p:nvSpPr>
        <p:spPr>
          <a:xfrm>
            <a:off x="1005840" y="1920240"/>
            <a:ext cx="228600" cy="256032"/>
          </a:xfrm>
          <a:prstGeom prst="rect">
            <a:avLst/>
          </a:prstGeom>
          <a:solidFill>
            <a:srgbClr val="00853F"/>
          </a:solidFill>
          <a:ln w="12700">
            <a:solidFill>
              <a:srgbClr val="00853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1920240"/>
            <a:ext cx="228600" cy="256032"/>
          </a:xfrm>
          <a:prstGeom prst="rect">
            <a:avLst/>
          </a:prstGeom>
          <a:solidFill>
            <a:srgbClr val="FDEF42"/>
          </a:solidFill>
          <a:ln w="12700">
            <a:solidFill>
              <a:srgbClr val="FDEF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1920240"/>
            <a:ext cx="228600" cy="25603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5361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88E"/>
                </a:solidFill>
              </a:rPr>
              <a:t>ÉCOLE GERMAINE LE GOFF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179222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IA : Thiès  —  IEF : Tivaouane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51760" y="197510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École Publique  •  Année : 2025-2026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212080" y="15361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0288E"/>
                </a:solidFill>
              </a:rPr>
              <a:t>MINISTERE DE</a:t>
            </a:r>
            <a:endParaRPr lang="en-US" sz="700" dirty="0"/>
          </a:p>
          <a:p>
            <a:pPr algn="r" indent="0" marL="0">
              <a:buNone/>
            </a:pPr>
            <a:r>
              <a:rPr lang="en-US" sz="700" b="1" dirty="0">
                <a:solidFill>
                  <a:srgbClr val="00288E"/>
                </a:solidFill>
              </a:rPr>
              <a:t>L'EDUCATION</a:t>
            </a:r>
            <a:endParaRPr lang="en-US" sz="700" dirty="0"/>
          </a:p>
          <a:p>
            <a:pPr algn="r" indent="0" marL="0">
              <a:buNone/>
            </a:pPr>
            <a:r>
              <a:rPr lang="en-US" sz="700" b="1" dirty="0">
                <a:solidFill>
                  <a:srgbClr val="00288E"/>
                </a:solidFill>
              </a:rPr>
              <a:t>NATIONALE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486400" y="2011680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0288E"/>
          </a:solidFill>
          <a:ln w="12700">
            <a:solidFill>
              <a:srgbClr val="0028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02082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Trimestre 3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94360" y="2258568"/>
            <a:ext cx="6126480" cy="18288"/>
          </a:xfrm>
          <a:prstGeom prst="rect">
            <a:avLst/>
          </a:prstGeom>
          <a:solidFill>
            <a:srgbClr val="00288E"/>
          </a:solidFill>
          <a:ln w="12700">
            <a:solidFill>
              <a:srgbClr val="00288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304288"/>
            <a:ext cx="6217920" cy="292608"/>
          </a:xfrm>
          <a:prstGeom prst="rect">
            <a:avLst/>
          </a:prstGeom>
          <a:solidFill>
            <a:srgbClr val="00288E"/>
          </a:solidFill>
          <a:ln w="12700">
            <a:solidFill>
              <a:srgbClr val="0028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304288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BULLETIN DE COMPOSITION — 3em TRIMESTRE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633472"/>
            <a:ext cx="6217920" cy="438912"/>
          </a:xfrm>
          <a:prstGeom prst="rect">
            <a:avLst/>
          </a:prstGeom>
          <a:solidFill>
            <a:srgbClr val="F0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267919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Prénom &amp; Nom : Fatou DIOP   |   Matricule : EL-001   |   Sexe : Féminin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85800" y="283464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Date de naissance : 15/03/2018   |   Institutrice : Madame DOUCOURE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8640" y="3108960"/>
            <a:ext cx="6217920" cy="256032"/>
          </a:xfrm>
          <a:prstGeom prst="rect">
            <a:avLst/>
          </a:prstGeom>
          <a:solidFill>
            <a:srgbClr val="00288E"/>
          </a:solidFill>
          <a:ln w="12700">
            <a:solidFill>
              <a:srgbClr val="0028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145536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MATIÈRE                NOTE OBTENUE    SUR       APPRÉCIATION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48640" y="3401568"/>
            <a:ext cx="6217920" cy="237744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4381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Mots Familier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834640" y="34381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288E"/>
                </a:solidFill>
              </a:rPr>
              <a:t>7.00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794760" y="343814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7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572000" y="34381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6534"/>
                </a:solidFill>
              </a:rPr>
              <a:t>Excellent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48640" y="3657600"/>
            <a:ext cx="62179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69417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Mathématiques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834640" y="3694176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288E"/>
                </a:solidFill>
              </a:rPr>
              <a:t>38.00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794760" y="369417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40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572000" y="369417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40AF"/>
                </a:solidFill>
              </a:rPr>
              <a:t>Très Bien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48640" y="3913632"/>
            <a:ext cx="6217920" cy="237744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9502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LC / Compétence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834640" y="395020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288E"/>
                </a:solidFill>
              </a:rPr>
              <a:t>18.00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794760" y="39502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20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572000" y="39502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</a:rPr>
              <a:t>Bien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48640" y="4169664"/>
            <a:ext cx="62179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2062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Sciences Nat.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2834640" y="420624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288E"/>
                </a:solidFill>
              </a:rPr>
              <a:t>16.00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794760" y="42062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20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572000" y="42062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730A3"/>
                </a:solidFill>
              </a:rPr>
              <a:t>Assez Bien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48640" y="4425696"/>
            <a:ext cx="6217920" cy="237744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4622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</a:rPr>
              <a:t>Éducation Civique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834640" y="446227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288E"/>
                </a:solidFill>
              </a:rPr>
              <a:t>8.00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794760" y="44622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10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4572000" y="44622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</a:rPr>
              <a:t>Bien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48640" y="4681728"/>
            <a:ext cx="6217920" cy="256032"/>
          </a:xfrm>
          <a:prstGeom prst="rect">
            <a:avLst/>
          </a:prstGeom>
          <a:solidFill>
            <a:srgbClr val="EFF4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4718304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288E"/>
                </a:solidFill>
              </a:rPr>
              <a:t>TOTAL  :  87.00   /  97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48640" y="4983480"/>
            <a:ext cx="6217920" cy="256032"/>
          </a:xfrm>
          <a:prstGeom prst="rect">
            <a:avLst/>
          </a:prstGeom>
          <a:solidFill>
            <a:srgbClr val="00288E"/>
          </a:solidFill>
          <a:ln w="12700">
            <a:solidFill>
              <a:srgbClr val="00288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" y="5010912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Effectif: 35   Rang: 1er   Moy. classe: 7.84/10   Mention: Très Bien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48640" y="5285232"/>
            <a:ext cx="6217920" cy="2560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4360" y="5312664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★ BILAN ANNUEL  |  Moy. Ann: 8.20/10  |  Rang Ann: 1er  |  Décision: Passe en classe supérieure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6995160" y="150876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32320" y="15819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8E"/>
                </a:solidFill>
              </a:rPr>
              <a:t>🇸🇳  En-tête officiel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132320" y="18379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République du Sénégal avec drapeau, IA, IEF et école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995160" y="2395728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0" y="24688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8E"/>
                </a:solidFill>
              </a:rPr>
              <a:t>📋  Notes complètes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132320" y="27249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Toutes les matières avec note obtenue, barème et appréciation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995160" y="3282696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32320" y="33558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8E"/>
                </a:solidFill>
              </a:rPr>
              <a:t>🏆  Rang &amp; Mention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132320" y="3611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Classement automatique parmi tous les élèves de la classe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995160" y="4169664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132320" y="424281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8E"/>
                </a:solidFill>
              </a:rPr>
              <a:t>📅  Bilan T3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132320" y="44988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Récapitulatif des 3 trimestres et décision du conseil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995160" y="5056632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32320" y="51297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8E"/>
                </a:solidFill>
              </a:rPr>
              <a:t>⚡  Génération rapide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132320" y="53858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Tous les bulletins de la classe générés en un seul clic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995160" y="5943600"/>
            <a:ext cx="47548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32320" y="60167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88E"/>
                </a:solidFill>
              </a:rPr>
              <a:t>🖨️  Prêt à imprimer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7132320" y="62727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Téléchargement PDF individuel ou collectif immédiat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288E"/>
                </a:solidFill>
              </a:rPr>
              <a:t>Classement &amp; Proposition de passage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Documents officiels générés automatiquement pour le conseil des maîtres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57784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544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8E"/>
                </a:solidFill>
              </a:rPr>
              <a:t>🏅 Classement par ordre de mérite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93392"/>
            <a:ext cx="5577840" cy="292608"/>
          </a:xfrm>
          <a:prstGeom prst="rect">
            <a:avLst/>
          </a:prstGeom>
          <a:solidFill>
            <a:srgbClr val="00288E"/>
          </a:solidFill>
          <a:ln w="12700">
            <a:solidFill>
              <a:srgbClr val="0028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20824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Rang   Élève              Sexe   T1       T2       T3     Moy.Ann.  Obs.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557784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23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🥇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4231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Fatou Diop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06040" y="24231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26080" y="24231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88E"/>
                </a:solidFill>
              </a:rPr>
              <a:t>8.20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56432" y="24231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88E"/>
                </a:solidFill>
              </a:rPr>
              <a:t>8.50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986784" y="242316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88E"/>
                </a:solidFill>
              </a:rPr>
              <a:t>9.07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26280" y="24231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88E"/>
                </a:solidFill>
              </a:rPr>
              <a:t>8.59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120640" y="2441448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4597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6534"/>
                </a:solidFill>
              </a:rPr>
              <a:t>Admis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48640" y="2807208"/>
            <a:ext cx="5577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986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2898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Moussa Kare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06040" y="289864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926080" y="28986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88E"/>
                </a:solidFill>
              </a:rPr>
              <a:t>7.80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456432" y="28986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88E"/>
                </a:solidFill>
              </a:rPr>
              <a:t>8.00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986784" y="28986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88E"/>
                </a:solidFill>
              </a:rPr>
              <a:t>8.76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26280" y="28986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88E"/>
                </a:solidFill>
              </a:rPr>
              <a:t>8.19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120640" y="2916936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29352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6534"/>
                </a:solidFill>
              </a:rPr>
              <a:t>Admis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48640" y="3282696"/>
            <a:ext cx="557784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37413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5840" y="337413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Awa Fall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606040" y="33741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926080" y="33741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88E"/>
                </a:solidFill>
              </a:rPr>
              <a:t>7.20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56432" y="33741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88E"/>
                </a:solidFill>
              </a:rPr>
              <a:t>7.50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986784" y="33741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88E"/>
                </a:solidFill>
              </a:rPr>
              <a:t>8.10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26280" y="33741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88E"/>
                </a:solidFill>
              </a:rPr>
              <a:t>7.60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120640" y="3392424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34107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6534"/>
                </a:solidFill>
              </a:rPr>
              <a:t>Admis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48640" y="3758184"/>
            <a:ext cx="5577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38496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05840" y="38496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Ibou Diallo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06040" y="38496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926080" y="38496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88E"/>
                </a:solidFill>
              </a:rPr>
              <a:t>6.50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56432" y="38496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88E"/>
                </a:solidFill>
              </a:rPr>
              <a:t>6.80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986784" y="384962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88E"/>
                </a:solidFill>
              </a:rPr>
              <a:t>7.40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526280" y="38496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88E"/>
                </a:solidFill>
              </a:rPr>
              <a:t>6.90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120640" y="3867912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3886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6534"/>
                </a:solidFill>
              </a:rPr>
              <a:t>Admis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48640" y="4233672"/>
            <a:ext cx="5577840" cy="43891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43251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005840" y="43251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Mariama Nd.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606040" y="43251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926080" y="43251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88E"/>
                </a:solidFill>
              </a:rPr>
              <a:t>5.20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456432" y="43251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88E"/>
                </a:solidFill>
              </a:rPr>
              <a:t>5.50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986784" y="432511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88E"/>
                </a:solidFill>
              </a:rPr>
              <a:t>6.00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526280" y="43251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88E"/>
                </a:solidFill>
              </a:rPr>
              <a:t>5.57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120640" y="4343400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20640" y="4361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66534"/>
                </a:solidFill>
              </a:rPr>
              <a:t>Admis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548640" y="4709160"/>
            <a:ext cx="5577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6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05840" y="480060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Omar Sow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606040" y="48006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2926080" y="48006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88E"/>
                </a:solidFill>
              </a:rPr>
              <a:t>4.20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456432" y="48006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88E"/>
                </a:solidFill>
              </a:rPr>
              <a:t>4.50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986784" y="48006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288E"/>
                </a:solidFill>
              </a:rPr>
              <a:t>4.80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526280" y="48006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88E"/>
                </a:solidFill>
              </a:rPr>
              <a:t>4.50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120640" y="4818888"/>
            <a:ext cx="914400" cy="237744"/>
          </a:xfrm>
          <a:prstGeom prst="roundRect">
            <a:avLst>
              <a:gd name="adj" fmla="val 1923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20640" y="483717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91B1B"/>
                </a:solidFill>
              </a:rPr>
              <a:t>Redouble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594360" y="5303520"/>
            <a:ext cx="5486400" cy="685800"/>
          </a:xfrm>
          <a:prstGeom prst="roundRect">
            <a:avLst>
              <a:gd name="adj" fmla="val 10667"/>
            </a:avLst>
          </a:prstGeom>
          <a:solidFill>
            <a:srgbClr val="EFF4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31520" y="5376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</a:rPr>
              <a:t>✅ 34 admis en classe supérieure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383280" y="53766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</a:rPr>
              <a:t>❌  1 redoublant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31520" y="56235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Taux de réussite : 97%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400800" y="1417320"/>
            <a:ext cx="548640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6583680" y="15544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88E"/>
                </a:solidFill>
              </a:rPr>
              <a:t>📊 Statistiques par matière — T3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6400800" y="1993392"/>
            <a:ext cx="5486400" cy="292608"/>
          </a:xfrm>
          <a:prstGeom prst="rect">
            <a:avLst/>
          </a:prstGeom>
          <a:solidFill>
            <a:srgbClr val="00288E"/>
          </a:solidFill>
          <a:ln w="12700">
            <a:solidFill>
              <a:srgbClr val="00288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92240" y="202082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Matière        Moy.   G≥5   G&lt;5   F≥5   F&lt;5   Réussite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400800" y="2331720"/>
            <a:ext cx="5486400" cy="420624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492240" y="2423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Maths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818120" y="24231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88E"/>
                </a:solidFill>
              </a:rPr>
              <a:t>6.84/10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8595360" y="24231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15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9006840" y="24231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3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9418320" y="24231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E185D"/>
                </a:solidFill>
              </a:rPr>
              <a:t>14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9829800" y="24231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CFE8"/>
                </a:solidFill>
              </a:rPr>
              <a:t>3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10241280" y="2441448"/>
            <a:ext cx="1463040" cy="237744"/>
          </a:xfrm>
          <a:prstGeom prst="roundRect">
            <a:avLst>
              <a:gd name="adj" fmla="val 1923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241280" y="24597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83%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400800" y="2788920"/>
            <a:ext cx="5486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92240" y="28803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Français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818120" y="28803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88E"/>
                </a:solidFill>
              </a:rPr>
              <a:t>7.20/10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8595360" y="28803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16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9006840" y="28803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2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9418320" y="28803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E185D"/>
                </a:solidFill>
              </a:rPr>
              <a:t>15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9829800" y="28803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CFE8"/>
                </a:solidFill>
              </a:rPr>
              <a:t>2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10241280" y="2898648"/>
            <a:ext cx="1463040" cy="237744"/>
          </a:xfrm>
          <a:prstGeom prst="roundRect">
            <a:avLst>
              <a:gd name="adj" fmla="val 1923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0241280" y="29169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89%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400800" y="3246120"/>
            <a:ext cx="5486400" cy="420624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492240" y="33375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Sciences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7818120" y="33375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88E"/>
                </a:solidFill>
              </a:rPr>
              <a:t>5.90/10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8595360" y="33375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12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9006840" y="33375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6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9418320" y="33375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E185D"/>
                </a:solidFill>
              </a:rPr>
              <a:t>11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9829800" y="33375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CFE8"/>
                </a:solidFill>
              </a:rPr>
              <a:t>6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10241280" y="3355848"/>
            <a:ext cx="1463040" cy="237744"/>
          </a:xfrm>
          <a:prstGeom prst="roundRect">
            <a:avLst>
              <a:gd name="adj" fmla="val 1923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0241280" y="33741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66%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400800" y="3703320"/>
            <a:ext cx="5486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492240" y="37947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Histoire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7818120" y="37947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88E"/>
                </a:solidFill>
              </a:rPr>
              <a:t>6.40/10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8595360" y="37947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14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9006840" y="37947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4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9418320" y="37947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E185D"/>
                </a:solidFill>
              </a:rPr>
              <a:t>13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9829800" y="37947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CFE8"/>
                </a:solidFill>
              </a:rPr>
              <a:t>4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10241280" y="3813048"/>
            <a:ext cx="1463040" cy="237744"/>
          </a:xfrm>
          <a:prstGeom prst="roundRect">
            <a:avLst>
              <a:gd name="adj" fmla="val 1923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0241280" y="38313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77%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400800" y="4160520"/>
            <a:ext cx="5486400" cy="420624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492240" y="4251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Éd. Civique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7818120" y="4251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288E"/>
                </a:solidFill>
              </a:rPr>
              <a:t>7.80/10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8595360" y="4251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4ED8"/>
                </a:solidFill>
              </a:rPr>
              <a:t>17</a:t>
            </a:r>
            <a:endParaRPr lang="en-US" sz="800" dirty="0"/>
          </a:p>
        </p:txBody>
      </p:sp>
      <p:sp>
        <p:nvSpPr>
          <p:cNvPr id="117" name="Text 115"/>
          <p:cNvSpPr/>
          <p:nvPr/>
        </p:nvSpPr>
        <p:spPr>
          <a:xfrm>
            <a:off x="9006840" y="4251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3C5FD"/>
                </a:solidFill>
              </a:rPr>
              <a:t>1</a:t>
            </a:r>
            <a:endParaRPr lang="en-US" sz="800" dirty="0"/>
          </a:p>
        </p:txBody>
      </p:sp>
      <p:sp>
        <p:nvSpPr>
          <p:cNvPr id="118" name="Text 116"/>
          <p:cNvSpPr/>
          <p:nvPr/>
        </p:nvSpPr>
        <p:spPr>
          <a:xfrm>
            <a:off x="9418320" y="4251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BE185D"/>
                </a:solidFill>
              </a:rPr>
              <a:t>16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9829800" y="42519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CFE8"/>
                </a:solidFill>
              </a:rPr>
              <a:t>1</a:t>
            </a:r>
            <a:endParaRPr lang="en-US" sz="800" dirty="0"/>
          </a:p>
        </p:txBody>
      </p:sp>
      <p:sp>
        <p:nvSpPr>
          <p:cNvPr id="120" name="Shape 118"/>
          <p:cNvSpPr/>
          <p:nvPr/>
        </p:nvSpPr>
        <p:spPr>
          <a:xfrm>
            <a:off x="10241280" y="4270248"/>
            <a:ext cx="1463040" cy="237744"/>
          </a:xfrm>
          <a:prstGeom prst="roundRect">
            <a:avLst>
              <a:gd name="adj" fmla="val 19231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0241280" y="42885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94%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6492240" y="42976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Répartition des mentions</a:t>
            </a:r>
            <a:endParaRPr lang="en-US" sz="1100" dirty="0"/>
          </a:p>
        </p:txBody>
      </p:sp>
      <p:sp>
        <p:nvSpPr>
          <p:cNvPr id="123" name="Text 121"/>
          <p:cNvSpPr/>
          <p:nvPr/>
        </p:nvSpPr>
        <p:spPr>
          <a:xfrm>
            <a:off x="6492240" y="4645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Très Bien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7909560" y="4700016"/>
            <a:ext cx="736092" cy="146304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601200" y="46451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66534"/>
                </a:solidFill>
              </a:rPr>
              <a:t>8 (23%)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6492240" y="4965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Bien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7909560" y="5020056"/>
            <a:ext cx="1088136" cy="146304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601200" y="49651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E40AF"/>
                </a:solidFill>
              </a:rPr>
              <a:t>12 (34%)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6492240" y="52852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Assez Bien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7909560" y="5340096"/>
            <a:ext cx="832104" cy="146304"/>
          </a:xfrm>
          <a:prstGeom prst="roundRect">
            <a:avLst>
              <a:gd name="adj" fmla="val 25000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601200" y="528523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730A3"/>
                </a:solidFill>
              </a:rPr>
              <a:t>9 (26%)</a:t>
            </a:r>
            <a:endParaRPr lang="en-US" sz="900" dirty="0"/>
          </a:p>
        </p:txBody>
      </p:sp>
      <p:sp>
        <p:nvSpPr>
          <p:cNvPr id="132" name="Text 130"/>
          <p:cNvSpPr/>
          <p:nvPr/>
        </p:nvSpPr>
        <p:spPr>
          <a:xfrm>
            <a:off x="6492240" y="56052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Passable</a:t>
            </a:r>
            <a:endParaRPr lang="en-US" sz="900" dirty="0"/>
          </a:p>
        </p:txBody>
      </p:sp>
      <p:sp>
        <p:nvSpPr>
          <p:cNvPr id="133" name="Shape 131"/>
          <p:cNvSpPr/>
          <p:nvPr/>
        </p:nvSpPr>
        <p:spPr>
          <a:xfrm>
            <a:off x="7909560" y="5660136"/>
            <a:ext cx="352044" cy="146304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601200" y="560527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4 (11%)</a:t>
            </a:r>
            <a:endParaRPr lang="en-US" sz="900" dirty="0"/>
          </a:p>
        </p:txBody>
      </p:sp>
      <p:sp>
        <p:nvSpPr>
          <p:cNvPr id="135" name="Text 133"/>
          <p:cNvSpPr/>
          <p:nvPr/>
        </p:nvSpPr>
        <p:spPr>
          <a:xfrm>
            <a:off x="6492240" y="59253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Insuffisant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7909560" y="5980176"/>
            <a:ext cx="192024" cy="146304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9601200" y="5925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1B1B"/>
                </a:solidFill>
              </a:rPr>
              <a:t>2 (6%)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88E"/>
          </a:solidFill>
          <a:ln w="12700">
            <a:solidFill>
              <a:srgbClr val="0028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0039B3">
              <a:alpha val="40000"/>
            </a:srgbClr>
          </a:solidFill>
          <a:ln w="12700">
            <a:solidFill>
              <a:srgbClr val="0039B3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0039B3">
              <a:alpha val="30000"/>
            </a:srgbClr>
          </a:solidFill>
          <a:ln w="12700">
            <a:solidFill>
              <a:srgbClr val="0039B3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Pourquoi les enseignants choisissent Senegal EdTech 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91640" y="16916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Gain de temps considérable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91640" y="21031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Les bulletins qui prenaient 3 jours sont maintenant générés en 10 minutes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4630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452360" y="16916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Zéro erreur de calcul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52360" y="21031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Toutes les moyennes et rangs sont calculés automatiquement et sans faute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🇸🇳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691640" y="32918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100% adapté au Sénégal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91640" y="37033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Niveaux CI à CM2, matières officielles, bulletins conformes aux normes nationales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30632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452360" y="32918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Accessible partout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52360" y="37033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Utilisable sur téléphone, tablette et ordinateur, même à l'école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6634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691640" y="48920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Données confidentielles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91640" y="53035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Chaque enseignant accède uniquement à ses propres données, en toute sécurité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466344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4983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452360" y="4892040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Documents officiels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52360" y="53035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Classement, proposition de passage et bulletins prêts pour le conseil des maîtres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88E"/>
          </a:solidFill>
          <a:ln w="12700">
            <a:solidFill>
              <a:srgbClr val="0028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1828800"/>
            <a:ext cx="6400800" cy="6400800"/>
          </a:xfrm>
          <a:prstGeom prst="ellipse">
            <a:avLst/>
          </a:prstGeom>
          <a:solidFill>
            <a:srgbClr val="0039B3">
              <a:alpha val="35000"/>
            </a:srgbClr>
          </a:solidFill>
          <a:ln w="12700">
            <a:solidFill>
              <a:srgbClr val="0039B3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0039B3">
              <a:alpha val="30000"/>
            </a:srgbClr>
          </a:solidFill>
          <a:ln w="12700">
            <a:solidFill>
              <a:srgbClr val="0039B3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Commençons ensemble !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371600" y="192024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FDBFE"/>
                </a:solidFill>
              </a:rPr>
              <a:t>Senegal EdTech est prêt à transformer votre quotidien d'enseignant.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FDBFE"/>
                </a:solidFill>
              </a:rPr>
              <a:t>Simple, rapide, efficace — conçu pour vous.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8880" y="2926080"/>
            <a:ext cx="640080" cy="640080"/>
          </a:xfrm>
          <a:prstGeom prst="ellipse">
            <a:avLst/>
          </a:prstGeom>
          <a:solidFill>
            <a:srgbClr val="0058BE"/>
          </a:solidFill>
          <a:ln w="12700">
            <a:solidFill>
              <a:srgbClr val="0058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Inscription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Créez votre compte avec votre clé d'accès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2926080"/>
            <a:ext cx="640080" cy="640080"/>
          </a:xfrm>
          <a:prstGeom prst="ellipse">
            <a:avLst/>
          </a:prstGeom>
          <a:solidFill>
            <a:srgbClr val="0058BE"/>
          </a:solidFill>
          <a:ln w="12700">
            <a:solidFill>
              <a:srgbClr val="0058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Configuration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Ajoutez vos élèves et vérifiez vos matières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418320" y="2926080"/>
            <a:ext cx="640080" cy="640080"/>
          </a:xfrm>
          <a:prstGeom prst="ellipse">
            <a:avLst/>
          </a:prstGeom>
          <a:solidFill>
            <a:srgbClr val="0058BE"/>
          </a:solidFill>
          <a:ln w="12700">
            <a:solidFill>
              <a:srgbClr val="0058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183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2104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C'est parti !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4069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FDBFE"/>
                </a:solidFill>
              </a:rPr>
              <a:t>Saisissez les notes et générez les bulletins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4709160"/>
            <a:ext cx="8503920" cy="182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48463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</a:rPr>
              <a:t>"L'éducation est l'arme la plus puissante pour changer le monde."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828800" y="53035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</a:rPr>
              <a:t>— Nelson Mandela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31920" y="5760720"/>
            <a:ext cx="429768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57607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288E"/>
                </a:solidFill>
              </a:rPr>
              <a:t>🚀  Demander une démonstration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2026-08-08T23:45:25Z</dcterms:created>
  <dcterms:modified xsi:type="dcterms:W3CDTF">2026-08-08T23:45:25Z</dcterms:modified>
</cp:coreProperties>
</file>